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switch is the flag 'CalculateFromAllLevelsLessThanOrEqualPlayer'.</a:t>
            </a:r>
          </a:p>
          <a:p/>
          <a:p>
            <a:r>
              <a:t>205 of the 264 leveled actor lists in the plugin carry it; 59 do not. So the 'picks at random from everything under your level' description on this slide is the majority case, not the universal one — without the flag a level-45 player meets a Bandit Marauder every single time.</a:t>
            </a:r>
          </a:p>
          <a:p/>
          <a:p>
            <a:r>
              <a:t>Why it stops mattering: once every gate is 1, 'all rows at or below my level' and 'only the highest qualifying row' select the same set — the entire list. So the flag was never audited and never needed to be.</a:t>
            </a:r>
          </a:p>
          <a:p/>
          <a:p>
            <a:r>
              <a:t>The example on screen, LCharBanditMelee1H (039CFC), does carry the flag.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4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5740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D4A63C"/>
                </a:solidFill>
                <a:latin typeface="Segoe UI"/>
              </a:rPr>
              <a:t>A SKYRIM SPECIAL EDITION PLUGIN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487168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6800" b="1">
                <a:solidFill>
                  <a:srgbClr val="ECEAE5"/>
                </a:solidFill>
                <a:latin typeface="Segoe UI"/>
              </a:rPr>
              <a:t>Ehlnofey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03320"/>
            <a:ext cx="9326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100" b="0">
                <a:solidFill>
                  <a:srgbClr val="C3CAD4"/>
                </a:solidFill>
                <a:latin typeface="Segoe UI"/>
              </a:rPr>
              <a:t>Deleveling Skyrim — and the tier ladders that have to replace the scaling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681728"/>
            <a:ext cx="2011680" cy="27432"/>
          </a:xfrm>
          <a:prstGeom prst="rect">
            <a:avLst/>
          </a:prstGeom>
          <a:solidFill>
            <a:srgbClr val="2E3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956048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6A0AF"/>
                </a:solidFill>
                <a:latin typeface="Segoe UI"/>
              </a:rPr>
              <a:t>No prior modding knowledge assumed. </a:t>
            </a:r>
            <a:r>
              <a:rPr sz="1350" b="0">
                <a:solidFill>
                  <a:srgbClr val="96A0AF"/>
                </a:solidFill>
                <a:latin typeface="Segoe UI"/>
              </a:rPr>
              <a:t>Every mechanic is built up from scratch.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D4A63C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72865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CEAE5"/>
                </a:solidFill>
                <a:latin typeface="Segoe UI"/>
              </a:rPr>
              <a:t>Skyrim scales itself to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16736"/>
            <a:ext cx="1051560" cy="41148"/>
          </a:xfrm>
          <a:prstGeom prst="rect">
            <a:avLst/>
          </a:prstGeom>
          <a:solidFill>
            <a:srgbClr val="D4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5775" y="638251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>
                <a:solidFill>
                  <a:srgbClr val="545D6B"/>
                </a:solidFill>
                <a:latin typeface="Segoe U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2286000" cy="841248"/>
          </a:xfrm>
          <a:prstGeom prst="round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67127"/>
            <a:ext cx="2286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" b="1">
                <a:solidFill>
                  <a:srgbClr val="0E1116"/>
                </a:solidFill>
                <a:latin typeface="Segoe U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20824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1">
                <a:solidFill>
                  <a:srgbClr val="96A0AF"/>
                </a:solidFill>
                <a:latin typeface="Segoe UI"/>
              </a:rPr>
              <a:t>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76856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ECEAE5"/>
                </a:solidFill>
                <a:latin typeface="Segoe UI"/>
              </a:rPr>
              <a:t>Level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09397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96A0AF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1874519"/>
            <a:ext cx="3200400" cy="841248"/>
          </a:xfrm>
          <a:prstGeom prst="round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2167127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" b="1">
                <a:solidFill>
                  <a:srgbClr val="0E1116"/>
                </a:solidFill>
                <a:latin typeface="Segoe U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020824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1">
                <a:solidFill>
                  <a:srgbClr val="96A0AF"/>
                </a:solidFill>
                <a:latin typeface="Segoe UI"/>
              </a:rPr>
              <a:t>BLEAK FALLS BARROW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276856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96A0AF"/>
                </a:solidFill>
                <a:latin typeface="Segoe UI"/>
              </a:rPr>
              <a:t>unchanged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09397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96A0AF"/>
                </a:solidFill>
                <a:latin typeface="Segoe U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1874519"/>
            <a:ext cx="3017520" cy="841248"/>
          </a:xfrm>
          <a:prstGeom prst="round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2167127"/>
            <a:ext cx="3017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" b="1">
                <a:solidFill>
                  <a:srgbClr val="0E1116"/>
                </a:solidFill>
                <a:latin typeface="Segoe U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020824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1">
                <a:solidFill>
                  <a:srgbClr val="96A0AF"/>
                </a:solidFill>
                <a:latin typeface="Segoe UI"/>
              </a:rPr>
              <a:t>WHAT SPAWNS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2276856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63B3D4"/>
                </a:solidFill>
                <a:latin typeface="Segoe UI"/>
              </a:rPr>
              <a:t>Draugr, level 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2971800"/>
            <a:ext cx="2286000" cy="841248"/>
          </a:xfrm>
          <a:prstGeom prst="round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264408"/>
            <a:ext cx="2286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" b="1">
                <a:solidFill>
                  <a:srgbClr val="0E1116"/>
                </a:solidFill>
                <a:latin typeface="Segoe U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118104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1">
                <a:solidFill>
                  <a:srgbClr val="96A0AF"/>
                </a:solidFill>
                <a:latin typeface="Segoe UI"/>
              </a:rPr>
              <a:t>YOU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374136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ECEAE5"/>
                </a:solidFill>
                <a:latin typeface="Segoe UI"/>
              </a:rPr>
              <a:t>Level 45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319125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96A0AF"/>
                </a:solidFill>
                <a:latin typeface="Segoe U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49039" y="2971800"/>
            <a:ext cx="3200400" cy="841248"/>
          </a:xfrm>
          <a:prstGeom prst="round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39" y="3264408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" b="1">
                <a:solidFill>
                  <a:srgbClr val="0E1116"/>
                </a:solidFill>
                <a:latin typeface="Segoe UI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3118104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1">
                <a:solidFill>
                  <a:srgbClr val="96A0AF"/>
                </a:solidFill>
                <a:latin typeface="Segoe UI"/>
              </a:rPr>
              <a:t>BLEAK FALLS BARROW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3374136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96A0AF"/>
                </a:solidFill>
                <a:latin typeface="Segoe UI"/>
              </a:rPr>
              <a:t>unchanged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19125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96A0AF"/>
                </a:solidFill>
                <a:latin typeface="Segoe U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80960" y="2971800"/>
            <a:ext cx="3017520" cy="841248"/>
          </a:xfrm>
          <a:prstGeom prst="round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0" y="3264408"/>
            <a:ext cx="3017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" b="1">
                <a:solidFill>
                  <a:srgbClr val="0E1116"/>
                </a:solidFill>
                <a:latin typeface="Segoe UI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3118104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1">
                <a:solidFill>
                  <a:srgbClr val="96A0AF"/>
                </a:solidFill>
                <a:latin typeface="Segoe UI"/>
              </a:rPr>
              <a:t>WHAT SPAWNS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3374136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CC5B44"/>
                </a:solidFill>
                <a:latin typeface="Segoe UI"/>
              </a:rPr>
              <a:t>Draugr, level 45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315968"/>
            <a:ext cx="10728655" cy="566928"/>
          </a:xfrm>
          <a:prstGeom prst="rect">
            <a:avLst/>
          </a:prstGeom>
          <a:solidFill>
            <a:srgbClr val="212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4315968"/>
            <a:ext cx="38404" cy="566928"/>
          </a:xfrm>
          <a:prstGeom prst="rect">
            <a:avLst/>
          </a:prstGeom>
          <a:solidFill>
            <a:srgbClr val="D4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4334255"/>
            <a:ext cx="10180015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50" b="0">
                <a:solidFill>
                  <a:srgbClr val="ECEAE5"/>
                </a:solidFill>
                <a:latin typeface="Segoe UI"/>
              </a:rPr>
              <a:t>Same dungeon, same corridor, same chest — and the same fight, forever. The world is a mirror held up to your character sheet.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138928"/>
            <a:ext cx="1072865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96A0AF"/>
                </a:solidFill>
                <a:latin typeface="Segoe UI"/>
              </a:rPr>
              <a:t>Vanilla does this almost everywhere: enemies, their gear, and the loot in the boss chest are all generated relative to your level at the moment you first walk in. Nothing in the world has a difficulty of its own.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D4A63C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72865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CEAE5"/>
                </a:solidFill>
                <a:latin typeface="Segoe UI"/>
              </a:rPr>
              <a:t>What that costs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16736"/>
            <a:ext cx="1051560" cy="41148"/>
          </a:xfrm>
          <a:prstGeom prst="rect">
            <a:avLst/>
          </a:prstGeom>
          <a:solidFill>
            <a:srgbClr val="D4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5775" y="638251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>
                <a:solidFill>
                  <a:srgbClr val="545D6B"/>
                </a:solidFill>
                <a:latin typeface="Segoe UI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5199735" cy="137160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38404" cy="1371600"/>
          </a:xfrm>
          <a:prstGeom prst="rect">
            <a:avLst/>
          </a:prstGeom>
          <a:solidFill>
            <a:srgbClr val="63B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057400"/>
            <a:ext cx="468767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ECEAE5"/>
                </a:solidFill>
                <a:latin typeface="Segoe UI"/>
              </a:rPr>
              <a:t>The map has no danger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414016"/>
            <a:ext cx="468767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 b="0">
                <a:solidFill>
                  <a:srgbClr val="96A0AF"/>
                </a:solidFill>
                <a:latin typeface="Segoe UI"/>
              </a:rPr>
              <a:t>Every direction out of Riverwood is equally safe. There is nowhere you are not supposed to go yet, so there is nothing to earn the right to.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0439" y="1828800"/>
            <a:ext cx="5199735" cy="137160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0439" y="1828800"/>
            <a:ext cx="38404" cy="1371600"/>
          </a:xfrm>
          <a:prstGeom prst="rect">
            <a:avLst/>
          </a:prstGeom>
          <a:solidFill>
            <a:srgbClr val="D4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6471" y="2057400"/>
            <a:ext cx="468767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ECEAE5"/>
                </a:solidFill>
                <a:latin typeface="Segoe UI"/>
              </a:rPr>
              <a:t>Exploring pays nothing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6471" y="2414016"/>
            <a:ext cx="468767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 b="0">
                <a:solidFill>
                  <a:srgbClr val="96A0AF"/>
                </a:solidFill>
                <a:latin typeface="Segoe UI"/>
              </a:rPr>
              <a:t>The good sword is in the chest because you are level 40, not because the chest was hard to reach. Reward tracks the player, not the place.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364992"/>
            <a:ext cx="5199735" cy="137160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364992"/>
            <a:ext cx="38404" cy="1371600"/>
          </a:xfrm>
          <a:prstGeom prst="rect">
            <a:avLst/>
          </a:prstGeom>
          <a:solidFill>
            <a:srgbClr val="CC5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593592"/>
            <a:ext cx="468767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ECEAE5"/>
                </a:solidFill>
                <a:latin typeface="Segoe UI"/>
              </a:rPr>
              <a:t>No curve, in either direction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3950208"/>
            <a:ext cx="468767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 b="0">
                <a:solidFill>
                  <a:srgbClr val="96A0AF"/>
                </a:solidFill>
                <a:latin typeface="Segoe UI"/>
              </a:rPr>
              <a:t>You never outgrow a threat and you are never overmatched by one. Difficulty is a flat line that follows you for the whole game.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0439" y="3364992"/>
            <a:ext cx="5199735" cy="137160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0439" y="3364992"/>
            <a:ext cx="38404" cy="1371600"/>
          </a:xfrm>
          <a:prstGeom prst="rect">
            <a:avLst/>
          </a:prstGeom>
          <a:solidFill>
            <a:srgbClr val="6FB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6471" y="3593592"/>
            <a:ext cx="468767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ECEAE5"/>
                </a:solidFill>
                <a:latin typeface="Segoe UI"/>
              </a:rPr>
              <a:t>The fiction stops making sense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6471" y="3950208"/>
            <a:ext cx="468767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 b="0">
                <a:solidFill>
                  <a:srgbClr val="96A0AF"/>
                </a:solidFill>
                <a:latin typeface="Segoe UI"/>
              </a:rPr>
              <a:t>A roadside bandit and an ancient Nordic Deathlord end up at the same level. The names still imply a hierarchy; the numbers no longer honour it.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029200"/>
            <a:ext cx="10728655" cy="566928"/>
          </a:xfrm>
          <a:prstGeom prst="rect">
            <a:avLst/>
          </a:prstGeom>
          <a:solidFill>
            <a:srgbClr val="212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5029200"/>
            <a:ext cx="38404" cy="566928"/>
          </a:xfrm>
          <a:prstGeom prst="rect">
            <a:avLst/>
          </a:prstGeom>
          <a:solidFill>
            <a:srgbClr val="D4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047488"/>
            <a:ext cx="10180015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50" b="0">
                <a:solidFill>
                  <a:srgbClr val="ECEAE5"/>
                </a:solidFill>
                <a:latin typeface="Segoe UI"/>
              </a:rPr>
              <a:t>The mod's whole job: give difficulty and reward back to places and creatures, and take them away from the player's level.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D4A63C"/>
                </a:solidFill>
                <a:latin typeface="Segoe UI"/>
              </a:rPr>
              <a:t>THE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72865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CEAE5"/>
                </a:solidFill>
                <a:latin typeface="Segoe UI"/>
              </a:rPr>
              <a:t>Three rules everything answers 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16736"/>
            <a:ext cx="1051560" cy="41148"/>
          </a:xfrm>
          <a:prstGeom prst="rect">
            <a:avLst/>
          </a:prstGeom>
          <a:solidFill>
            <a:srgbClr val="D4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5775" y="638251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>
                <a:solidFill>
                  <a:srgbClr val="545D6B"/>
                </a:solidFill>
                <a:latin typeface="Segoe UI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783080"/>
            <a:ext cx="10728655" cy="91440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38404" cy="914400"/>
          </a:xfrm>
          <a:prstGeom prst="rect">
            <a:avLst/>
          </a:prstGeom>
          <a:solidFill>
            <a:srgbClr val="D4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02536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4A63C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93852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CEAE5"/>
                </a:solidFill>
                <a:latin typeface="Segoe UI"/>
              </a:rPr>
              <a:t>The world does not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929384"/>
            <a:ext cx="58823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96A0AF"/>
                </a:solidFill>
                <a:latin typeface="Segoe UI"/>
              </a:rPr>
              <a:t>Every enemy and every hoard has a level set once, by hand. Nothing recalculates against the player, ever.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862072"/>
            <a:ext cx="10728655" cy="91440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862072"/>
            <a:ext cx="38404" cy="914400"/>
          </a:xfrm>
          <a:prstGeom prst="rect">
            <a:avLst/>
          </a:prstGeom>
          <a:solidFill>
            <a:srgbClr val="63B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08152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63B3D4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0175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CEAE5"/>
                </a:solidFill>
                <a:latin typeface="Segoe UI"/>
              </a:rPr>
              <a:t>Danger is legible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008376"/>
            <a:ext cx="58823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96A0AF"/>
                </a:solidFill>
                <a:latin typeface="Segoe UI"/>
              </a:rPr>
              <a:t>If walking somewhere can kill you, the world must have said so first. A fixed world is only fair if you can read 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941063"/>
            <a:ext cx="10728655" cy="91440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941063"/>
            <a:ext cx="38404" cy="914400"/>
          </a:xfrm>
          <a:prstGeom prst="rect">
            <a:avLst/>
          </a:prstGeom>
          <a:solidFill>
            <a:srgbClr val="6FB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1605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6FB07F"/>
                </a:solidFill>
                <a:latin typeface="Segoe U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096511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CEAE5"/>
                </a:solidFill>
                <a:latin typeface="Segoe UI"/>
              </a:rPr>
              <a:t>Reward follows place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4087368"/>
            <a:ext cx="58823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96A0AF"/>
                </a:solidFill>
                <a:latin typeface="Segoe UI"/>
              </a:rPr>
              <a:t>Good loot exists because of where it is — a deep barrow, a dragon's hoard, a named boss. Never because you happened to be level 40.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120640"/>
            <a:ext cx="10728655" cy="566928"/>
          </a:xfrm>
          <a:prstGeom prst="rect">
            <a:avLst/>
          </a:prstGeom>
          <a:solidFill>
            <a:srgbClr val="212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5120640"/>
            <a:ext cx="38404" cy="566928"/>
          </a:xfrm>
          <a:prstGeom prst="rect">
            <a:avLst/>
          </a:prstGeom>
          <a:solidFill>
            <a:srgbClr val="63B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138927"/>
            <a:ext cx="10180015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50" b="0">
                <a:solidFill>
                  <a:srgbClr val="ECEAE5"/>
                </a:solidFill>
                <a:latin typeface="Segoe UI"/>
              </a:rPr>
              <a:t>Rule 2 is the load-bearing one. Once the world stops scaling, legibility is the only protection a player has — and it is the reason the rest of this talk is about names as much as numbers.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D4A63C"/>
                </a:solidFill>
                <a:latin typeface="Segoe UI"/>
              </a:rPr>
              <a:t>THE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72865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CEAE5"/>
                </a:solidFill>
                <a:latin typeface="Segoe UI"/>
              </a:rPr>
              <a:t>How Skyrim actually decides what spawns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16736"/>
            <a:ext cx="1051560" cy="41148"/>
          </a:xfrm>
          <a:prstGeom prst="rect">
            <a:avLst/>
          </a:prstGeom>
          <a:solidFill>
            <a:srgbClr val="D4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5775" y="638251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>
                <a:solidFill>
                  <a:srgbClr val="545D6B"/>
                </a:solidFill>
                <a:latin typeface="Segoe U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27632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ECEAE5"/>
                </a:solidFill>
                <a:latin typeface="Segoe UI"/>
              </a:rPr>
              <a:t>A spawn point in a dungeon does not contain an enemy. It contains a menu — modders call it a leveled list.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240280"/>
          <a:ext cx="4114800" cy="2596896"/>
        </p:xfrm>
        <a:graphic>
          <a:graphicData uri="http://schemas.openxmlformats.org/drawingml/2006/table">
            <a:tbl>
              <a:tblPr/>
              <a:tblGrid>
                <a:gridCol w="914400"/>
                <a:gridCol w="320040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ECEAE5"/>
                          </a:solidFill>
                          <a:latin typeface="Segoe UI"/>
                        </a:rPr>
                        <a:t>Gate</a:t>
                      </a:r>
                    </a:p>
                  </a:txBody>
                  <a:tcPr marL="128016" marR="91440" marT="41148" marB="41148" anchor="ctr">
                    <a:solidFill>
                      <a:srgbClr val="2128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ECEAE5"/>
                          </a:solidFill>
                          <a:latin typeface="Segoe UI"/>
                        </a:rPr>
                        <a:t>Row on the menu</a:t>
                      </a:r>
                    </a:p>
                  </a:txBody>
                  <a:tcPr marL="128016" marR="91440" marT="41148" marB="41148" anchor="ctr">
                    <a:solidFill>
                      <a:srgbClr val="21283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ECEAE5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96A0AF"/>
                          </a:solidFill>
                          <a:latin typeface="Segoe UI"/>
                        </a:rPr>
                        <a:t>Bandit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ECEAE5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96A0AF"/>
                          </a:solidFill>
                          <a:latin typeface="Segoe UI"/>
                        </a:rPr>
                        <a:t>Bandit Outlaw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ECEAE5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96A0AF"/>
                          </a:solidFill>
                          <a:latin typeface="Segoe UI"/>
                        </a:rPr>
                        <a:t>Bandit Thug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ECEAE5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96A0AF"/>
                          </a:solidFill>
                          <a:latin typeface="Segoe UI"/>
                        </a:rPr>
                        <a:t>Bandit Highwayman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ECEAE5"/>
                          </a:solidFill>
                          <a:latin typeface="Segoe UI"/>
                        </a:rPr>
                        <a:t>19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96A0AF"/>
                          </a:solidFill>
                          <a:latin typeface="Segoe UI"/>
                        </a:rPr>
                        <a:t>Bandit Plunderer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ECEAE5"/>
                          </a:solidFill>
                          <a:latin typeface="Segoe UI"/>
                        </a:rPr>
                        <a:t>25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96A0AF"/>
                          </a:solidFill>
                          <a:latin typeface="Segoe UI"/>
                        </a:rPr>
                        <a:t>Bandit Marauder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394959" y="2212848"/>
            <a:ext cx="6065215" cy="91440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94959" y="2212848"/>
            <a:ext cx="38404" cy="914400"/>
          </a:xfrm>
          <a:prstGeom prst="rect">
            <a:avLst/>
          </a:prstGeom>
          <a:solidFill>
            <a:srgbClr val="D4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14416" y="2404872"/>
            <a:ext cx="56263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ECEAE5"/>
                </a:solidFill>
                <a:latin typeface="Segoe UI"/>
              </a:rPr>
              <a:t>Every row carries a level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14416" y="2761488"/>
            <a:ext cx="56263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00" b="0">
                <a:solidFill>
                  <a:srgbClr val="96A0AF"/>
                </a:solidFill>
                <a:latin typeface="Segoe UI"/>
              </a:rPr>
              <a:t>The number on the left is the player level at which that row unlocks.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59" y="3236976"/>
            <a:ext cx="6065215" cy="1261872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94959" y="3236976"/>
            <a:ext cx="38404" cy="1261872"/>
          </a:xfrm>
          <a:prstGeom prst="rect">
            <a:avLst/>
          </a:prstGeom>
          <a:solidFill>
            <a:srgbClr val="63B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14416" y="3429000"/>
            <a:ext cx="56263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ECEAE5"/>
                </a:solidFill>
                <a:latin typeface="Segoe UI"/>
              </a:rPr>
              <a:t>The engine hides what you have not earned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14416" y="3785616"/>
            <a:ext cx="5626303" cy="5852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00" b="0">
                <a:solidFill>
                  <a:srgbClr val="96A0AF"/>
                </a:solidFill>
                <a:latin typeface="Segoe UI"/>
              </a:rPr>
              <a:t>It removes every row gated above your level. Then one switch on the list — "calculate from all levels ≤ player" — decides what happens next: pick at random from everything left, or take only the highest row still standing.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94959" y="4608576"/>
            <a:ext cx="6065215" cy="1024128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94959" y="4608576"/>
            <a:ext cx="38404" cy="1024128"/>
          </a:xfrm>
          <a:prstGeom prst="rect">
            <a:avLst/>
          </a:prstGeom>
          <a:solidFill>
            <a:srgbClr val="CC5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14416" y="4800600"/>
            <a:ext cx="56263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ECEAE5"/>
                </a:solidFill>
                <a:latin typeface="Segoe UI"/>
              </a:rPr>
              <a:t>So the gate is the scaling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14416" y="5157216"/>
            <a:ext cx="5626303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00" b="0">
                <a:solidFill>
                  <a:srgbClr val="96A0AF"/>
                </a:solidFill>
                <a:latin typeface="Segoe UI"/>
              </a:rPr>
              <a:t>At level 3 one row is live, so you always meet a plain Bandit. At level 45 the list has opened up. Same spawn point, different world.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760720"/>
            <a:ext cx="10728655" cy="502920"/>
          </a:xfrm>
          <a:prstGeom prst="rect">
            <a:avLst/>
          </a:prstGeom>
          <a:solidFill>
            <a:srgbClr val="212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5760720"/>
            <a:ext cx="38404" cy="502920"/>
          </a:xfrm>
          <a:prstGeom prst="rect">
            <a:avLst/>
          </a:prstGeom>
          <a:solidFill>
            <a:srgbClr val="D4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779007"/>
            <a:ext cx="10180015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50" b="0">
                <a:solidFill>
                  <a:srgbClr val="ECEAE5"/>
                </a:solidFill>
                <a:latin typeface="Segoe UI"/>
              </a:rPr>
              <a:t>That one number is the entire scaling mechanism — and flattening it to 1 collapses both behaviours into one, because then the whole list is the highest row. Live, always, at every player level.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D4A63C"/>
                </a:solidFill>
                <a:latin typeface="Segoe UI"/>
              </a:rPr>
              <a:t>THE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72865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CEAE5"/>
                </a:solidFill>
                <a:latin typeface="Segoe UI"/>
              </a:rPr>
              <a:t>The fix: flatten the gate, keep the pool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16736"/>
            <a:ext cx="1051560" cy="41148"/>
          </a:xfrm>
          <a:prstGeom prst="rect">
            <a:avLst/>
          </a:prstGeom>
          <a:solidFill>
            <a:srgbClr val="D4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5775" y="638251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>
                <a:solidFill>
                  <a:srgbClr val="545D6B"/>
                </a:solidFill>
                <a:latin typeface="Segoe U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64208"/>
            <a:ext cx="3108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96A0AF"/>
                </a:solidFill>
                <a:latin typeface="Segoe UI"/>
              </a:rPr>
              <a:t>BEFORE — AS SHIPPED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993392"/>
          <a:ext cx="3108960" cy="2487168"/>
        </p:xfrm>
        <a:graphic>
          <a:graphicData uri="http://schemas.openxmlformats.org/drawingml/2006/table">
            <a:tbl>
              <a:tblPr/>
              <a:tblGrid>
                <a:gridCol w="868680"/>
                <a:gridCol w="224028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ECEAE5"/>
                          </a:solidFill>
                          <a:latin typeface="Segoe UI"/>
                        </a:rPr>
                        <a:t>Gate</a:t>
                      </a:r>
                    </a:p>
                  </a:txBody>
                  <a:tcPr marL="128016" marR="91440" marT="41148" marB="41148" anchor="ctr">
                    <a:solidFill>
                      <a:srgbClr val="2128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ECEAE5"/>
                          </a:solidFill>
                          <a:latin typeface="Segoe UI"/>
                        </a:rPr>
                        <a:t>Row</a:t>
                      </a:r>
                    </a:p>
                  </a:txBody>
                  <a:tcPr marL="128016" marR="91440" marT="41148" marB="41148" anchor="ctr">
                    <a:solidFill>
                      <a:srgbClr val="21283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CEAE5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96A0AF"/>
                          </a:solidFill>
                          <a:latin typeface="Segoe UI"/>
                        </a:rPr>
                        <a:t>Bandit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CEAE5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96A0AF"/>
                          </a:solidFill>
                          <a:latin typeface="Segoe UI"/>
                        </a:rPr>
                        <a:t>Outlaw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CEAE5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96A0AF"/>
                          </a:solidFill>
                          <a:latin typeface="Segoe UI"/>
                        </a:rPr>
                        <a:t>Thug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CEAE5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96A0AF"/>
                          </a:solidFill>
                          <a:latin typeface="Segoe UI"/>
                        </a:rPr>
                        <a:t>Highwayman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CEAE5"/>
                          </a:solidFill>
                          <a:latin typeface="Segoe UI"/>
                        </a:rPr>
                        <a:t>19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96A0AF"/>
                          </a:solidFill>
                          <a:latin typeface="Segoe UI"/>
                        </a:rPr>
                        <a:t>Plunderer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CEAE5"/>
                          </a:solidFill>
                          <a:latin typeface="Segoe UI"/>
                        </a:rPr>
                        <a:t>25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96A0AF"/>
                          </a:solidFill>
                          <a:latin typeface="Segoe UI"/>
                        </a:rPr>
                        <a:t>Marauder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950208" y="320040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D4A63C"/>
                </a:solidFill>
                <a:latin typeface="Segoe U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664208"/>
            <a:ext cx="3108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D4A63C"/>
                </a:solidFill>
                <a:latin typeface="Segoe UI"/>
              </a:rPr>
              <a:t>AFTER — EHLNOFEY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617720" y="1993392"/>
          <a:ext cx="3108960" cy="2697480"/>
        </p:xfrm>
        <a:graphic>
          <a:graphicData uri="http://schemas.openxmlformats.org/drawingml/2006/table">
            <a:tbl>
              <a:tblPr/>
              <a:tblGrid>
                <a:gridCol w="868680"/>
                <a:gridCol w="224028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CEAE5"/>
                          </a:solidFill>
                          <a:latin typeface="Segoe UI"/>
                        </a:rPr>
                        <a:t>Gate</a:t>
                      </a:r>
                    </a:p>
                  </a:txBody>
                  <a:tcPr marL="128016" marR="91440" marT="41148" marB="41148" anchor="ctr">
                    <a:solidFill>
                      <a:srgbClr val="2128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CEAE5"/>
                          </a:solidFill>
                          <a:latin typeface="Segoe UI"/>
                        </a:rPr>
                        <a:t>Row</a:t>
                      </a:r>
                    </a:p>
                  </a:txBody>
                  <a:tcPr marL="128016" marR="91440" marT="41148" marB="41148" anchor="ctr">
                    <a:solidFill>
                      <a:srgbClr val="212834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CEAE5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96A0AF"/>
                          </a:solidFill>
                          <a:latin typeface="Segoe UI"/>
                        </a:rPr>
                        <a:t>Bandit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CEAE5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96A0AF"/>
                          </a:solidFill>
                          <a:latin typeface="Segoe UI"/>
                        </a:rPr>
                        <a:t>Bandit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CEAE5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96A0AF"/>
                          </a:solidFill>
                          <a:latin typeface="Segoe UI"/>
                        </a:rPr>
                        <a:t>Bandit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CEAE5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96A0AF"/>
                          </a:solidFill>
                          <a:latin typeface="Segoe UI"/>
                        </a:rPr>
                        <a:t>Outlaw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CEAE5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96A0AF"/>
                          </a:solidFill>
                          <a:latin typeface="Segoe UI"/>
                        </a:rPr>
                        <a:t>Outlaw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CEAE5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96A0AF"/>
                          </a:solidFill>
                          <a:latin typeface="Segoe UI"/>
                        </a:rPr>
                        <a:t>Outlaw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CEAE5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96A0AF"/>
                          </a:solidFill>
                          <a:latin typeface="Segoe UI"/>
                        </a:rPr>
                        <a:t>Thug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CEAE5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96A0AF"/>
                          </a:solidFill>
                          <a:latin typeface="Segoe UI"/>
                        </a:rPr>
                        <a:t>Thug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CEAE5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96A0AF"/>
                          </a:solidFill>
                          <a:latin typeface="Segoe UI"/>
                        </a:rPr>
                        <a:t>Highwayman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8092440" y="1993392"/>
            <a:ext cx="3367735" cy="132588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993392"/>
            <a:ext cx="38404" cy="1325880"/>
          </a:xfrm>
          <a:prstGeom prst="rect">
            <a:avLst/>
          </a:prstGeom>
          <a:solidFill>
            <a:srgbClr val="D4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1896" y="2185416"/>
            <a:ext cx="292882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CEAE5"/>
                </a:solidFill>
                <a:latin typeface="Segoe UI"/>
              </a:rPr>
              <a:t>Every gate becomes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1896" y="2542032"/>
            <a:ext cx="2928823" cy="649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00" b="0">
                <a:solidFill>
                  <a:srgbClr val="96A0AF"/>
                </a:solidFill>
                <a:latin typeface="Segoe UI"/>
              </a:rPr>
              <a:t>Nothing is ever hidden, so the player's level never enters the calculation.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3456432"/>
            <a:ext cx="3367735" cy="132588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3456432"/>
            <a:ext cx="38404" cy="1325880"/>
          </a:xfrm>
          <a:prstGeom prst="rect">
            <a:avLst/>
          </a:prstGeom>
          <a:solidFill>
            <a:srgbClr val="63B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1896" y="3648456"/>
            <a:ext cx="292882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CEAE5"/>
                </a:solidFill>
                <a:latin typeface="Segoe UI"/>
              </a:rPr>
              <a:t>Repeats are the weighting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4005072"/>
            <a:ext cx="2928823" cy="649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00" b="0">
                <a:solidFill>
                  <a:srgbClr val="96A0AF"/>
                </a:solidFill>
                <a:latin typeface="Segoe UI"/>
              </a:rPr>
              <a:t>The engine has no weight field. Listing Bandit three times is how you make it three times as likely.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138928"/>
            <a:ext cx="10728655" cy="566928"/>
          </a:xfrm>
          <a:prstGeom prst="rect">
            <a:avLst/>
          </a:prstGeom>
          <a:solidFill>
            <a:srgbClr val="212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5138928"/>
            <a:ext cx="38404" cy="566928"/>
          </a:xfrm>
          <a:prstGeom prst="rect">
            <a:avLst/>
          </a:prstGeom>
          <a:solidFill>
            <a:srgbClr val="D4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157216"/>
            <a:ext cx="10180015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50" b="0">
                <a:solidFill>
                  <a:srgbClr val="ECEAE5"/>
                </a:solidFill>
                <a:latin typeface="Segoe UI"/>
              </a:rPr>
              <a:t>Which rows you leave on the menu is now the entire design. Plunderer and Marauder are simply gone from this list — that decision, repeated across ~2,800 records, is the mod.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D4A63C"/>
                </a:solidFill>
                <a:latin typeface="Segoe UI"/>
              </a:rPr>
              <a:t>THE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72865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CEAE5"/>
                </a:solidFill>
                <a:latin typeface="Segoe UI"/>
              </a:rPr>
              <a:t>The tier ladder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16736"/>
            <a:ext cx="1051560" cy="41148"/>
          </a:xfrm>
          <a:prstGeom prst="rect">
            <a:avLst/>
          </a:prstGeom>
          <a:solidFill>
            <a:srgbClr val="D4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5775" y="638251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>
                <a:solidFill>
                  <a:srgbClr val="545D6B"/>
                </a:solidFill>
                <a:latin typeface="Segoe U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27632"/>
            <a:ext cx="107286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6A0AF"/>
                </a:solidFill>
                <a:latin typeface="Segoe UI"/>
              </a:rPr>
              <a:t>Seven rungs. Every place, creature family and roster in the mod is assigned one.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103120"/>
          <a:ext cx="10725912" cy="3058668"/>
        </p:xfrm>
        <a:graphic>
          <a:graphicData uri="http://schemas.openxmlformats.org/drawingml/2006/table">
            <a:tbl>
              <a:tblPr/>
              <a:tblGrid>
                <a:gridCol w="868680"/>
                <a:gridCol w="914400"/>
                <a:gridCol w="777240"/>
                <a:gridCol w="2834640"/>
                <a:gridCol w="5330952"/>
              </a:tblGrid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ECEAE5"/>
                          </a:solidFill>
                          <a:latin typeface="Segoe UI"/>
                        </a:rPr>
                        <a:t>Tier</a:t>
                      </a:r>
                    </a:p>
                  </a:txBody>
                  <a:tcPr marL="128016" marR="91440" marT="41148" marB="41148" anchor="ctr">
                    <a:solidFill>
                      <a:srgbClr val="2128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ECEAE5"/>
                          </a:solidFill>
                          <a:latin typeface="Segoe UI"/>
                        </a:rPr>
                        <a:t>Level</a:t>
                      </a:r>
                    </a:p>
                  </a:txBody>
                  <a:tcPr marL="128016" marR="91440" marT="41148" marB="41148" anchor="ctr">
                    <a:solidFill>
                      <a:srgbClr val="2128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ECEAE5"/>
                          </a:solidFill>
                          <a:latin typeface="Segoe UI"/>
                        </a:rPr>
                        <a:t>Step</a:t>
                      </a:r>
                    </a:p>
                  </a:txBody>
                  <a:tcPr marL="128016" marR="91440" marT="41148" marB="41148" anchor="ctr">
                    <a:solidFill>
                      <a:srgbClr val="2128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ECEAE5"/>
                          </a:solidFill>
                          <a:latin typeface="Segoe UI"/>
                        </a:rPr>
                        <a:t>What it means</a:t>
                      </a:r>
                    </a:p>
                  </a:txBody>
                  <a:tcPr marL="128016" marR="91440" marT="41148" marB="41148" anchor="ctr">
                    <a:solidFill>
                      <a:srgbClr val="2128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ECEAE5"/>
                          </a:solidFill>
                          <a:latin typeface="Segoe UI"/>
                        </a:rPr>
                        <a:t>Where you meet it</a:t>
                      </a:r>
                    </a:p>
                  </a:txBody>
                  <a:tcPr marL="128016" marR="91440" marT="41148" marB="41148" anchor="ctr">
                    <a:solidFill>
                      <a:srgbClr val="212834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B8FA8"/>
                          </a:solidFill>
                          <a:latin typeface="Segoe UI"/>
                        </a:rPr>
                        <a:t>T1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B8FA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96A0AF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CEAE5"/>
                          </a:solidFill>
                          <a:latin typeface="Segoe UI"/>
                        </a:rPr>
                        <a:t>Nuisance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96A0AF"/>
                          </a:solidFill>
                          <a:latin typeface="Segoe UI"/>
                        </a:rPr>
                        <a:t>Animal dens, the weakest camps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6FA98E"/>
                          </a:solidFill>
                          <a:latin typeface="Segoe UI"/>
                        </a:rPr>
                        <a:t>T2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6FA98E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96A0AF"/>
                          </a:solidFill>
                          <a:latin typeface="Segoe UI"/>
                        </a:rPr>
                        <a:t>+4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CEAE5"/>
                          </a:solidFill>
                          <a:latin typeface="Segoe UI"/>
                        </a:rPr>
                        <a:t>Local trouble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96A0AF"/>
                          </a:solidFill>
                          <a:latin typeface="Segoe UI"/>
                        </a:rPr>
                        <a:t>Bandit camps, shipwrecks, minor caves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A8A85B"/>
                          </a:solidFill>
                          <a:latin typeface="Segoe UI"/>
                        </a:rPr>
                        <a:t>T3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A8A85B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96A0AF"/>
                          </a:solidFill>
                          <a:latin typeface="Segoe UI"/>
                        </a:rPr>
                        <a:t>+6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CEAE5"/>
                          </a:solidFill>
                          <a:latin typeface="Segoe UI"/>
                        </a:rPr>
                        <a:t>Established threat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96A0AF"/>
                          </a:solidFill>
                          <a:latin typeface="Segoe UI"/>
                        </a:rPr>
                        <a:t>Forts, Forsworn camps, ordinary crypts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D4A63C"/>
                          </a:solidFill>
                          <a:latin typeface="Segoe UI"/>
                        </a:rPr>
                        <a:t>T4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D4A63C"/>
                          </a:solidFill>
                          <a:latin typeface="Segoe UI"/>
                        </a:rPr>
                        <a:t>21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96A0AF"/>
                          </a:solidFill>
                          <a:latin typeface="Segoe UI"/>
                        </a:rPr>
                        <a:t>+7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CEAE5"/>
                          </a:solidFill>
                          <a:latin typeface="Segoe UI"/>
                        </a:rPr>
                        <a:t>Serious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96A0AF"/>
                          </a:solidFill>
                          <a:latin typeface="Segoe UI"/>
                        </a:rPr>
                        <a:t>Dwemer ruins, Falmer hives, hagraven nests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D4823C"/>
                          </a:solidFill>
                          <a:latin typeface="Segoe UI"/>
                        </a:rPr>
                        <a:t>T5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D4823C"/>
                          </a:solidFill>
                          <a:latin typeface="Segoe UI"/>
                        </a:rPr>
                        <a:t>30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96A0AF"/>
                          </a:solidFill>
                          <a:latin typeface="Segoe UI"/>
                        </a:rPr>
                        <a:t>+9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CEAE5"/>
                          </a:solidFill>
                          <a:latin typeface="Segoe UI"/>
                        </a:rPr>
                        <a:t>Deep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96A0AF"/>
                          </a:solidFill>
                          <a:latin typeface="Segoe UI"/>
                        </a:rPr>
                        <a:t>Dragon Priest lairs, deep Nordic ruins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C4553C"/>
                          </a:solidFill>
                          <a:latin typeface="Segoe UI"/>
                        </a:rPr>
                        <a:t>T6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C4553C"/>
                          </a:solidFill>
                          <a:latin typeface="Segoe UI"/>
                        </a:rPr>
                        <a:t>40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96A0AF"/>
                          </a:solidFill>
                          <a:latin typeface="Segoe UI"/>
                        </a:rPr>
                        <a:t>+10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CEAE5"/>
                          </a:solidFill>
                          <a:latin typeface="Segoe UI"/>
                        </a:rPr>
                        <a:t>Apex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96A0AF"/>
                          </a:solidFill>
                          <a:latin typeface="Segoe UI"/>
                        </a:rPr>
                        <a:t>Solstheim's peak, Apocrypha, Volkihar's court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A63C63"/>
                          </a:solidFill>
                          <a:latin typeface="Segoe UI"/>
                        </a:rPr>
                        <a:t>T7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A63C63"/>
                          </a:solidFill>
                          <a:latin typeface="Segoe UI"/>
                        </a:rPr>
                        <a:t>50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96A0AF"/>
                          </a:solidFill>
                          <a:latin typeface="Segoe UI"/>
                        </a:rPr>
                        <a:t>+10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CEAE5"/>
                          </a:solidFill>
                          <a:latin typeface="Segoe UI"/>
                        </a:rPr>
                        <a:t>Capstone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96A0AF"/>
                          </a:solidFill>
                          <a:latin typeface="Segoe UI"/>
                        </a:rPr>
                        <a:t>A short named list, nothing else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5413248"/>
            <a:ext cx="10728655" cy="502920"/>
          </a:xfrm>
          <a:prstGeom prst="rect">
            <a:avLst/>
          </a:prstGeom>
          <a:solidFill>
            <a:srgbClr val="212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5413248"/>
            <a:ext cx="38404" cy="502920"/>
          </a:xfrm>
          <a:prstGeom prst="rect">
            <a:avLst/>
          </a:prstGeom>
          <a:solidFill>
            <a:srgbClr val="D4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431536"/>
            <a:ext cx="10180015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50" b="0">
                <a:solidFill>
                  <a:srgbClr val="ECEAE5"/>
                </a:solidFill>
                <a:latin typeface="Segoe UI"/>
              </a:rPr>
              <a:t>"T4" is shorthand for "the level-21 rung". A T4 creature is level 21 in the first dungeon you meet it and in the last one, forever.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D4A63C"/>
                </a:solidFill>
                <a:latin typeface="Segoe UI"/>
              </a:rPr>
              <a:t>THE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72865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CEAE5"/>
                </a:solidFill>
                <a:latin typeface="Segoe UI"/>
              </a:rPr>
              <a:t>The numbers are not invented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16736"/>
            <a:ext cx="1051560" cy="41148"/>
          </a:xfrm>
          <a:prstGeom prst="rect">
            <a:avLst/>
          </a:prstGeom>
          <a:solidFill>
            <a:srgbClr val="D4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5775" y="638251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>
                <a:solidFill>
                  <a:srgbClr val="545D6B"/>
                </a:solidFill>
                <a:latin typeface="Segoe U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27632"/>
            <a:ext cx="107286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6A0AF"/>
                </a:solidFill>
                <a:latin typeface="Segoe UI"/>
              </a:rPr>
              <a:t>The ladder is lifted straight off the deepest ladder Bethesda already wrote — the draugr.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94560"/>
            <a:ext cx="1620469" cy="96012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194560"/>
            <a:ext cx="1620469" cy="41148"/>
          </a:xfrm>
          <a:prstGeom prst="rect">
            <a:avLst/>
          </a:prstGeom>
          <a:solidFill>
            <a:srgbClr val="6FA9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95728"/>
            <a:ext cx="162046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ECEAE5"/>
                </a:solidFill>
                <a:latin typeface="Segoe UI"/>
              </a:rPr>
              <a:t>Draugr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24912"/>
            <a:ext cx="162046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6FA98E"/>
                </a:solidFill>
                <a:latin typeface="Segoe U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53157" y="2194560"/>
            <a:ext cx="1620469" cy="96012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53157" y="2194560"/>
            <a:ext cx="1620469" cy="41148"/>
          </a:xfrm>
          <a:prstGeom prst="rect">
            <a:avLst/>
          </a:prstGeom>
          <a:solidFill>
            <a:srgbClr val="A8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53157" y="2395728"/>
            <a:ext cx="162046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ECEAE5"/>
                </a:solidFill>
                <a:latin typeface="Segoe UI"/>
              </a:rPr>
              <a:t>Restless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53157" y="2724912"/>
            <a:ext cx="162046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A8A85B"/>
                </a:solidFill>
                <a:latin typeface="Segoe UI"/>
              </a:rPr>
              <a:t>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74794" y="2194560"/>
            <a:ext cx="1620469" cy="96012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74794" y="2194560"/>
            <a:ext cx="1620469" cy="41148"/>
          </a:xfrm>
          <a:prstGeom prst="rect">
            <a:avLst/>
          </a:prstGeom>
          <a:solidFill>
            <a:srgbClr val="D4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4794" y="2395728"/>
            <a:ext cx="162046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ECEAE5"/>
                </a:solidFill>
                <a:latin typeface="Segoe UI"/>
              </a:rPr>
              <a:t>Wight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4794" y="2724912"/>
            <a:ext cx="162046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D4A63C"/>
                </a:solidFill>
                <a:latin typeface="Segoe UI"/>
              </a:rPr>
              <a:t>13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6431" y="2194560"/>
            <a:ext cx="1620469" cy="96012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6431" y="2194560"/>
            <a:ext cx="1620469" cy="41148"/>
          </a:xfrm>
          <a:prstGeom prst="rect">
            <a:avLst/>
          </a:prstGeom>
          <a:solidFill>
            <a:srgbClr val="D48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96431" y="2395728"/>
            <a:ext cx="162046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ECEAE5"/>
                </a:solidFill>
                <a:latin typeface="Segoe UI"/>
              </a:rPr>
              <a:t>Scourge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6431" y="2724912"/>
            <a:ext cx="162046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D4823C"/>
                </a:solidFill>
                <a:latin typeface="Segoe UI"/>
              </a:rPr>
              <a:t>21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18068" y="2194560"/>
            <a:ext cx="1620469" cy="96012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18068" y="2194560"/>
            <a:ext cx="1620469" cy="41148"/>
          </a:xfrm>
          <a:prstGeom prst="rect">
            <a:avLst/>
          </a:prstGeom>
          <a:solidFill>
            <a:srgbClr val="C45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18068" y="2395728"/>
            <a:ext cx="162046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ECEAE5"/>
                </a:solidFill>
                <a:latin typeface="Segoe UI"/>
              </a:rPr>
              <a:t>Deathlord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18068" y="2724912"/>
            <a:ext cx="162046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C4553C"/>
                </a:solidFill>
                <a:latin typeface="Segoe UI"/>
              </a:rPr>
              <a:t>30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39706" y="2194560"/>
            <a:ext cx="1620469" cy="96012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839706" y="2194560"/>
            <a:ext cx="1620469" cy="41148"/>
          </a:xfrm>
          <a:prstGeom prst="rect">
            <a:avLst/>
          </a:prstGeom>
          <a:solidFill>
            <a:srgbClr val="A63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39706" y="2395728"/>
            <a:ext cx="162046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ECEAE5"/>
                </a:solidFill>
                <a:latin typeface="Segoe UI"/>
              </a:rPr>
              <a:t>(ebony)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39706" y="2724912"/>
            <a:ext cx="162046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A63C63"/>
                </a:solidFill>
                <a:latin typeface="Segoe UI"/>
              </a:rPr>
              <a:t>40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3419856"/>
            <a:ext cx="5208879" cy="132588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3419856"/>
            <a:ext cx="38404" cy="1325880"/>
          </a:xfrm>
          <a:prstGeom prst="rect">
            <a:avLst/>
          </a:prstGeom>
          <a:solidFill>
            <a:srgbClr val="D4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7552" y="3648456"/>
            <a:ext cx="46968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ECEAE5"/>
                </a:solidFill>
                <a:latin typeface="Segoe UI"/>
              </a:rPr>
              <a:t>T4, T5 and T6 are exactly those gates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" y="4005072"/>
            <a:ext cx="4696815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00" b="0">
                <a:solidFill>
                  <a:srgbClr val="96A0AF"/>
                </a:solidFill>
                <a:latin typeface="Segoe UI"/>
              </a:rPr>
              <a:t>21, 30 and 40 are not chosen numbers — they are where vanilla already puts Scourge, Deathlord and the ebony Deathlord.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51295" y="3419856"/>
            <a:ext cx="5208879" cy="132588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51295" y="3419856"/>
            <a:ext cx="38404" cy="1325880"/>
          </a:xfrm>
          <a:prstGeom prst="rect">
            <a:avLst/>
          </a:prstGeom>
          <a:solidFill>
            <a:srgbClr val="63B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07327" y="3648456"/>
            <a:ext cx="46968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ECEAE5"/>
                </a:solidFill>
                <a:latin typeface="Segoe UI"/>
              </a:rPr>
              <a:t>The steps widen on purpose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07327" y="4005072"/>
            <a:ext cx="4696815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00" b="0">
                <a:solidFill>
                  <a:srgbClr val="96A0AF"/>
                </a:solidFill>
                <a:latin typeface="Segoe UI"/>
              </a:rPr>
              <a:t>+4, +6, +7, +9, +10. A rung is roughly a constant ratio of power, not a fixed number of levels.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4956048"/>
            <a:ext cx="10728655" cy="566928"/>
          </a:xfrm>
          <a:prstGeom prst="rect">
            <a:avLst/>
          </a:prstGeom>
          <a:solidFill>
            <a:srgbClr val="212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4956048"/>
            <a:ext cx="38404" cy="566928"/>
          </a:xfrm>
          <a:prstGeom prst="rect">
            <a:avLst/>
          </a:prstGeom>
          <a:solidFill>
            <a:srgbClr val="D4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4974336"/>
            <a:ext cx="10180015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50" b="0">
                <a:solidFill>
                  <a:srgbClr val="ECEAE5"/>
                </a:solidFill>
                <a:latin typeface="Segoe UI"/>
              </a:rPr>
              <a:t>The bottom three rungs are lifted (1→4, 6→8, 13→14) so a low-tier dungeon still has internal texture. At level 1 everything in a room resolves identically and the place feels uniform.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D4A63C"/>
                </a:solidFill>
                <a:latin typeface="Segoe UI"/>
              </a:rPr>
              <a:t>THE PIVOT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72865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CEAE5"/>
                </a:solidFill>
                <a:latin typeface="Segoe UI"/>
              </a:rPr>
              <a:t>Tiers belong to creatures, not to rooms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16736"/>
            <a:ext cx="1051560" cy="41148"/>
          </a:xfrm>
          <a:prstGeom prst="rect">
            <a:avLst/>
          </a:prstGeom>
          <a:solidFill>
            <a:srgbClr val="D4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5775" y="638251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>
                <a:solidFill>
                  <a:srgbClr val="545D6B"/>
                </a:solidFill>
                <a:latin typeface="Segoe UI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783080"/>
            <a:ext cx="5181447" cy="228600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38404" cy="2286000"/>
          </a:xfrm>
          <a:prstGeom prst="rect">
            <a:avLst/>
          </a:prstGeom>
          <a:solidFill>
            <a:srgbClr val="CC5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93392"/>
            <a:ext cx="463280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C5B44"/>
                </a:solidFill>
                <a:latin typeface="Segoe UI"/>
              </a:rPr>
              <a:t>The first plan — abandoned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95728"/>
            <a:ext cx="4632807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96A0AF"/>
                </a:solidFill>
                <a:latin typeface="Segoe UI"/>
              </a:rPr>
              <a:t>Tier every dungeon instead, using Skyrim's own "encounter zones" — a per-location min and max level.
It died on two measurements: encounter zones govern 0.3% of the outdoors, and no zone can reach the gear an enemy is wearing.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8727" y="1783080"/>
            <a:ext cx="5181447" cy="228600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78727" y="1783080"/>
            <a:ext cx="38404" cy="2286000"/>
          </a:xfrm>
          <a:prstGeom prst="rect">
            <a:avLst/>
          </a:prstGeom>
          <a:solidFill>
            <a:srgbClr val="6FB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1993392"/>
            <a:ext cx="463280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6FB07F"/>
                </a:solidFill>
                <a:latin typeface="Segoe UI"/>
              </a:rPr>
              <a:t>What shipped instead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2395728"/>
            <a:ext cx="4632807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96A0AF"/>
                </a:solidFill>
                <a:latin typeface="Segoe UI"/>
              </a:rPr>
              <a:t>The tier moves onto the creature family. Flatten every menu, then choose which rows stay on it.
A Draugr Scourge is level 21 in Bleak Falls Barrow, in Labyrinthian, and in a nameless barrow at the edge of the map.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315968"/>
            <a:ext cx="10728655" cy="685800"/>
          </a:xfrm>
          <a:prstGeom prst="rect">
            <a:avLst/>
          </a:prstGeom>
          <a:solidFill>
            <a:srgbClr val="212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315968"/>
            <a:ext cx="38404" cy="685800"/>
          </a:xfrm>
          <a:prstGeom prst="rect">
            <a:avLst/>
          </a:prstGeom>
          <a:solidFill>
            <a:srgbClr val="CC5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334255"/>
            <a:ext cx="10180015" cy="6492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50" b="0">
                <a:solidFill>
                  <a:srgbClr val="ECEAE5"/>
                </a:solidFill>
                <a:latin typeface="Segoe UI"/>
              </a:rPr>
              <a:t>This trades something real away: a place can no longer be tiered independently of what is inside it. A cave is exactly as dangerous as the things Bethesda chose to put in 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57800"/>
            <a:ext cx="107286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6A0AF"/>
                </a:solidFill>
                <a:latin typeface="Segoe UI"/>
              </a:rPr>
              <a:t>What it buys is that the tier now travels with the enemy — which is what makes the next slide possible.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D4A63C"/>
                </a:solidFill>
                <a:latin typeface="Segoe UI"/>
              </a:rPr>
              <a:t>LEGIBILITY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72865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CEAE5"/>
                </a:solidFill>
                <a:latin typeface="Segoe UI"/>
              </a:rPr>
              <a:t>Bethesda already wrote the difficulty labels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16736"/>
            <a:ext cx="1051560" cy="41148"/>
          </a:xfrm>
          <a:prstGeom prst="rect">
            <a:avLst/>
          </a:prstGeom>
          <a:solidFill>
            <a:srgbClr val="D4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5775" y="638251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>
                <a:solidFill>
                  <a:srgbClr val="545D6B"/>
                </a:solidFill>
                <a:latin typeface="Segoe U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27632"/>
            <a:ext cx="107286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6A0AF"/>
                </a:solidFill>
                <a:latin typeface="Segoe UI"/>
              </a:rPr>
              <a:t>The draugr line is a lore hierarchy that happens to be perfectly ordered by power.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12848"/>
            <a:ext cx="1940905" cy="137160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212848"/>
            <a:ext cx="1940905" cy="45720"/>
          </a:xfrm>
          <a:prstGeom prst="rect">
            <a:avLst/>
          </a:prstGeom>
          <a:solidFill>
            <a:srgbClr val="6FA9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450592"/>
            <a:ext cx="172144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ECEAE5"/>
                </a:solidFill>
                <a:latin typeface="Segoe UI"/>
              </a:rPr>
              <a:t>Draugr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27248"/>
            <a:ext cx="194090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6FA98E"/>
                </a:solidFill>
                <a:latin typeface="Segoe UI"/>
              </a:rPr>
              <a:t>level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1569" y="2761488"/>
            <a:ext cx="237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E3745"/>
                </a:solidFill>
                <a:latin typeface="Segoe U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8457" y="2212848"/>
            <a:ext cx="1940905" cy="137160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28457" y="2212848"/>
            <a:ext cx="1940905" cy="45720"/>
          </a:xfrm>
          <a:prstGeom prst="rect">
            <a:avLst/>
          </a:prstGeom>
          <a:solidFill>
            <a:srgbClr val="A8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38185" y="2450592"/>
            <a:ext cx="172144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ECEAE5"/>
                </a:solidFill>
                <a:latin typeface="Segoe UI"/>
              </a:rPr>
              <a:t>Restless Draugr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8457" y="3127248"/>
            <a:ext cx="194090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A8A85B"/>
                </a:solidFill>
                <a:latin typeface="Segoe UI"/>
              </a:rPr>
              <a:t>level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78506" y="2761488"/>
            <a:ext cx="237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E3745"/>
                </a:solidFill>
                <a:latin typeface="Segoe U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5394" y="2212848"/>
            <a:ext cx="1940905" cy="137160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25394" y="2212848"/>
            <a:ext cx="1940905" cy="45720"/>
          </a:xfrm>
          <a:prstGeom prst="rect">
            <a:avLst/>
          </a:prstGeom>
          <a:solidFill>
            <a:srgbClr val="D4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35122" y="2450592"/>
            <a:ext cx="172144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ECEAE5"/>
                </a:solidFill>
                <a:latin typeface="Segoe UI"/>
              </a:rPr>
              <a:t>Draugr Wight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5394" y="3127248"/>
            <a:ext cx="194090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D4A63C"/>
                </a:solidFill>
                <a:latin typeface="Segoe UI"/>
              </a:rPr>
              <a:t>level 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75444" y="2761488"/>
            <a:ext cx="237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E3745"/>
                </a:solidFill>
                <a:latin typeface="Segoe U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22332" y="2212848"/>
            <a:ext cx="1940905" cy="137160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22332" y="2212848"/>
            <a:ext cx="1940905" cy="45720"/>
          </a:xfrm>
          <a:prstGeom prst="rect">
            <a:avLst/>
          </a:prstGeom>
          <a:solidFill>
            <a:srgbClr val="D48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32060" y="2450592"/>
            <a:ext cx="172144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ECEAE5"/>
                </a:solidFill>
                <a:latin typeface="Segoe UI"/>
              </a:rPr>
              <a:t>Draugr Scourge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22332" y="3127248"/>
            <a:ext cx="194090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D4823C"/>
                </a:solidFill>
                <a:latin typeface="Segoe UI"/>
              </a:rPr>
              <a:t>level 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72381" y="2761488"/>
            <a:ext cx="237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E3745"/>
                </a:solidFill>
                <a:latin typeface="Segoe U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19269" y="2212848"/>
            <a:ext cx="1940905" cy="137160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19269" y="2212848"/>
            <a:ext cx="1940905" cy="45720"/>
          </a:xfrm>
          <a:prstGeom prst="rect">
            <a:avLst/>
          </a:prstGeom>
          <a:solidFill>
            <a:srgbClr val="C45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28997" y="2450592"/>
            <a:ext cx="172144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ECEAE5"/>
                </a:solidFill>
                <a:latin typeface="Segoe UI"/>
              </a:rPr>
              <a:t>Draugr Deathlord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19269" y="3127248"/>
            <a:ext cx="194090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C4553C"/>
                </a:solidFill>
                <a:latin typeface="Segoe UI"/>
              </a:rPr>
              <a:t>level 30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3840480"/>
            <a:ext cx="10728655" cy="566928"/>
          </a:xfrm>
          <a:prstGeom prst="rect">
            <a:avLst/>
          </a:prstGeom>
          <a:solidFill>
            <a:srgbClr val="212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3840480"/>
            <a:ext cx="38404" cy="566928"/>
          </a:xfrm>
          <a:prstGeom prst="rect">
            <a:avLst/>
          </a:prstGeom>
          <a:solidFill>
            <a:srgbClr val="63B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3858768"/>
            <a:ext cx="10180015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50" b="0">
                <a:solidFill>
                  <a:srgbClr val="ECEAE5"/>
                </a:solidFill>
                <a:latin typeface="Segoe UI"/>
              </a:rPr>
              <a:t>The player reads the tier off the enemy's name. No tutorial, no HUD, no wiki — the health bar already says how much trouble you are in.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645152"/>
            <a:ext cx="1072865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50" b="0">
                <a:solidFill>
                  <a:srgbClr val="96A0AF"/>
                </a:solidFill>
                <a:latin typeface="Segoe UI"/>
              </a:rPr>
              <a:t>This is what makes rule 2 survivable. Under the abandoned plan the names were only correlated with power — you met a Wight because the dungeon happened to be tier 4. Once the tier lives on the creature, the name becomes the fact. The same trick works for Dremora (Churl → Caitiff → Kynval → Kynreeve → Markynaz → Valkynaz) and for Falmer, vampires and Forsworn.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D4A63C"/>
                </a:solidFill>
                <a:latin typeface="Segoe UI"/>
              </a:rPr>
              <a:t>THE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72865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CEAE5"/>
                </a:solidFill>
                <a:latin typeface="Segoe UI"/>
              </a:rPr>
              <a:t>A roster, worked end to end: bandits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16736"/>
            <a:ext cx="1051560" cy="41148"/>
          </a:xfrm>
          <a:prstGeom prst="rect">
            <a:avLst/>
          </a:prstGeom>
          <a:solidFill>
            <a:srgbClr val="D4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5775" y="638251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>
                <a:solidFill>
                  <a:srgbClr val="545D6B"/>
                </a:solidFill>
                <a:latin typeface="Segoe U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9344"/>
            <a:ext cx="107286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96A0AF"/>
                </a:solidFill>
                <a:latin typeface="Segoe UI"/>
              </a:rPr>
              <a:t>Vanilla ships six rungs. The roster keeps four of them, weighted, and cuts two.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03120"/>
            <a:ext cx="1635709" cy="1298448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103120"/>
            <a:ext cx="1635709" cy="41148"/>
          </a:xfrm>
          <a:prstGeom prst="rect">
            <a:avLst/>
          </a:prstGeom>
          <a:solidFill>
            <a:srgbClr val="5B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04288"/>
            <a:ext cx="163570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ECEAE5"/>
                </a:solidFill>
                <a:latin typeface="Segoe UI"/>
              </a:rPr>
              <a:t>Bandit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163570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96A0AF"/>
                </a:solidFill>
                <a:latin typeface="Segoe UI"/>
              </a:rPr>
              <a:t>level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26080"/>
            <a:ext cx="163570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5B8FA8"/>
                </a:solidFill>
                <a:latin typeface="Segoe UI"/>
              </a:rPr>
              <a:t>×3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50109" y="2103120"/>
            <a:ext cx="1635709" cy="1298448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50109" y="2103120"/>
            <a:ext cx="1635709" cy="41148"/>
          </a:xfrm>
          <a:prstGeom prst="rect">
            <a:avLst/>
          </a:prstGeom>
          <a:solidFill>
            <a:srgbClr val="6FA9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50109" y="2304288"/>
            <a:ext cx="163570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ECEAE5"/>
                </a:solidFill>
                <a:latin typeface="Segoe UI"/>
              </a:rPr>
              <a:t>Outlaw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50109" y="2606040"/>
            <a:ext cx="163570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96A0AF"/>
                </a:solidFill>
                <a:latin typeface="Segoe UI"/>
              </a:rPr>
              <a:t>level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50109" y="2926080"/>
            <a:ext cx="163570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6FA98E"/>
                </a:solidFill>
                <a:latin typeface="Segoe UI"/>
              </a:rPr>
              <a:t>×3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68698" y="2103120"/>
            <a:ext cx="1635709" cy="1298448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68698" y="2103120"/>
            <a:ext cx="1635709" cy="41148"/>
          </a:xfrm>
          <a:prstGeom prst="rect">
            <a:avLst/>
          </a:prstGeom>
          <a:solidFill>
            <a:srgbClr val="A8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68698" y="2304288"/>
            <a:ext cx="163570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ECEAE5"/>
                </a:solidFill>
                <a:latin typeface="Segoe UI"/>
              </a:rPr>
              <a:t>Thug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8698" y="2606040"/>
            <a:ext cx="163570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96A0AF"/>
                </a:solidFill>
                <a:latin typeface="Segoe UI"/>
              </a:rPr>
              <a:t>level 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8698" y="2926080"/>
            <a:ext cx="163570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A8A85B"/>
                </a:solidFill>
                <a:latin typeface="Segoe UI"/>
              </a:rPr>
              <a:t>×2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87287" y="2103120"/>
            <a:ext cx="1635709" cy="1298448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87287" y="2103120"/>
            <a:ext cx="1635709" cy="41148"/>
          </a:xfrm>
          <a:prstGeom prst="rect">
            <a:avLst/>
          </a:prstGeom>
          <a:solidFill>
            <a:srgbClr val="D4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87287" y="2304288"/>
            <a:ext cx="163570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ECEAE5"/>
                </a:solidFill>
                <a:latin typeface="Segoe UI"/>
              </a:rPr>
              <a:t>Highwayman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7287" y="2606040"/>
            <a:ext cx="163570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96A0AF"/>
                </a:solidFill>
                <a:latin typeface="Segoe UI"/>
              </a:rPr>
              <a:t>level 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7287" y="2926080"/>
            <a:ext cx="163570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D4A63C"/>
                </a:solidFill>
                <a:latin typeface="Segoe UI"/>
              </a:rPr>
              <a:t>×1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05876" y="2103120"/>
            <a:ext cx="1635709" cy="1298448"/>
          </a:xfrm>
          <a:prstGeom prst="rect">
            <a:avLst/>
          </a:prstGeom>
          <a:solidFill>
            <a:srgbClr val="13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05876" y="2103120"/>
            <a:ext cx="1635709" cy="41148"/>
          </a:xfrm>
          <a:prstGeom prst="rect">
            <a:avLst/>
          </a:prstGeom>
          <a:solidFill>
            <a:srgbClr val="3A42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876" y="2304288"/>
            <a:ext cx="163570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5A6371"/>
                </a:solidFill>
                <a:latin typeface="Segoe UI"/>
              </a:rPr>
              <a:t>Plunderer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5876" y="2606040"/>
            <a:ext cx="163570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4A5361"/>
                </a:solidFill>
                <a:latin typeface="Segoe UI"/>
              </a:rPr>
              <a:t>level 19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5876" y="2926080"/>
            <a:ext cx="163570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5A6371"/>
                </a:solidFill>
                <a:latin typeface="Segoe UI"/>
              </a:rPr>
              <a:t>cut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24466" y="2103120"/>
            <a:ext cx="1635709" cy="1298448"/>
          </a:xfrm>
          <a:prstGeom prst="rect">
            <a:avLst/>
          </a:prstGeom>
          <a:solidFill>
            <a:srgbClr val="13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824466" y="2103120"/>
            <a:ext cx="1635709" cy="41148"/>
          </a:xfrm>
          <a:prstGeom prst="rect">
            <a:avLst/>
          </a:prstGeom>
          <a:solidFill>
            <a:srgbClr val="3A42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24466" y="2304288"/>
            <a:ext cx="163570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5A6371"/>
                </a:solidFill>
                <a:latin typeface="Segoe UI"/>
              </a:rPr>
              <a:t>Marauder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4466" y="2606040"/>
            <a:ext cx="163570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4A5361"/>
                </a:solidFill>
                <a:latin typeface="Segoe UI"/>
              </a:rPr>
              <a:t>level 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24466" y="2926080"/>
            <a:ext cx="163570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5A6371"/>
                </a:solidFill>
                <a:latin typeface="Segoe UI"/>
              </a:rPr>
              <a:t>cut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3657600"/>
            <a:ext cx="5208879" cy="1133856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1520" y="3657600"/>
            <a:ext cx="38404" cy="1133856"/>
          </a:xfrm>
          <a:prstGeom prst="rect">
            <a:avLst/>
          </a:prstGeom>
          <a:solidFill>
            <a:srgbClr val="6FA9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7552" y="3886200"/>
            <a:ext cx="46968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ECEAE5"/>
                </a:solidFill>
                <a:latin typeface="Segoe UI"/>
              </a:rPr>
              <a:t>The camp sits at T2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2" y="4242816"/>
            <a:ext cx="4696815" cy="420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00" b="0">
                <a:solidFill>
                  <a:srgbClr val="96A0AF"/>
                </a:solidFill>
                <a:latin typeface="Segoe UI"/>
              </a:rPr>
              <a:t>Weighted toward Outlaw, reaching Highwayman at worst. Bandits are early-game trouble and they stay early-game trouble.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51295" y="3657600"/>
            <a:ext cx="5208879" cy="1133856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51295" y="3657600"/>
            <a:ext cx="38404" cy="1133856"/>
          </a:xfrm>
          <a:prstGeom prst="rect">
            <a:avLst/>
          </a:prstGeom>
          <a:solidFill>
            <a:srgbClr val="D48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07327" y="3886200"/>
            <a:ext cx="46968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ECEAE5"/>
                </a:solidFill>
                <a:latin typeface="Segoe UI"/>
              </a:rPr>
              <a:t>The chief is pinned to level 28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07327" y="4242816"/>
            <a:ext cx="4696815" cy="420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00" b="0">
                <a:solidFill>
                  <a:srgbClr val="96A0AF"/>
                </a:solidFill>
                <a:latin typeface="Segoe UI"/>
              </a:rPr>
              <a:t>One rung, no spread — the top of the vanilla ladder. A camp's boss is the only fight in it that can carry real difficulty.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5010912"/>
            <a:ext cx="10728655" cy="566928"/>
          </a:xfrm>
          <a:prstGeom prst="rect">
            <a:avLst/>
          </a:prstGeom>
          <a:solidFill>
            <a:srgbClr val="212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31520" y="5010912"/>
            <a:ext cx="38404" cy="566928"/>
          </a:xfrm>
          <a:prstGeom prst="rect">
            <a:avLst/>
          </a:prstGeom>
          <a:solidFill>
            <a:srgbClr val="D4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5840" y="5029200"/>
            <a:ext cx="10180015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50" b="0">
                <a:solidFill>
                  <a:srgbClr val="ECEAE5"/>
                </a:solidFill>
                <a:latin typeface="Segoe UI"/>
              </a:rPr>
              <a:t>Nothing here writes a level onto a creature. Every roster is a filter and a weighting of rows Bethesda already wrote — which is why it stays compatible with almost everything.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D4A63C"/>
                </a:solidFill>
                <a:latin typeface="Segoe UI"/>
              </a:rPr>
              <a:t>FOUND IN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72865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CEAE5"/>
                </a:solidFill>
                <a:latin typeface="Segoe UI"/>
              </a:rPr>
              <a:t>The trap: a spread of levels needs a spread of names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16736"/>
            <a:ext cx="1051560" cy="41148"/>
          </a:xfrm>
          <a:prstGeom prst="rect">
            <a:avLst/>
          </a:prstGeom>
          <a:solidFill>
            <a:srgbClr val="D4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5775" y="638251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>
                <a:solidFill>
                  <a:srgbClr val="545D6B"/>
                </a:solidFill>
                <a:latin typeface="Segoe U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9344"/>
            <a:ext cx="107286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>
                <a:solidFill>
                  <a:srgbClr val="96A0AF"/>
                </a:solidFill>
                <a:latin typeface="Segoe UI"/>
              </a:rPr>
              <a:t>The chief was pinned to one level for a reason. Playtesting found it rolling anywhere from level 6 to level 28 — and every single one of those was called "Bandit Chief".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04288"/>
            <a:ext cx="10728655" cy="1133856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304288"/>
            <a:ext cx="38404" cy="1133856"/>
          </a:xfrm>
          <a:prstGeom prst="rect">
            <a:avLst/>
          </a:prstGeom>
          <a:solidFill>
            <a:srgbClr val="CC5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532888"/>
            <a:ext cx="1021659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CEAE5"/>
                </a:solidFill>
                <a:latin typeface="Segoe UI"/>
              </a:rPr>
              <a:t>Why the name does not follow the 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889503"/>
            <a:ext cx="10216591" cy="420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 b="0">
                <a:solidFill>
                  <a:srgbClr val="96A0AF"/>
                </a:solidFill>
                <a:latin typeface="Segoe UI"/>
              </a:rPr>
              <a:t>A creature record inherits its name and its level through two different switches. Set the level switch but not the name switch, and the name falls through to one shared record — so every power level shows the same string.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3566160"/>
          <a:ext cx="10725912" cy="2267712"/>
        </p:xfrm>
        <a:graphic>
          <a:graphicData uri="http://schemas.openxmlformats.org/drawingml/2006/table">
            <a:tbl>
              <a:tblPr/>
              <a:tblGrid>
                <a:gridCol w="2103120"/>
                <a:gridCol w="6309360"/>
                <a:gridCol w="2313432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ECEAE5"/>
                          </a:solidFill>
                          <a:latin typeface="Segoe UI"/>
                        </a:rPr>
                        <a:t>Boss family</a:t>
                      </a:r>
                    </a:p>
                  </a:txBody>
                  <a:tcPr marL="128016" marR="91440" marT="41148" marB="41148" anchor="ctr">
                    <a:solidFill>
                      <a:srgbClr val="2128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ECEAE5"/>
                          </a:solidFill>
                          <a:latin typeface="Segoe UI"/>
                        </a:rPr>
                        <a:t>Names across its rungs</a:t>
                      </a:r>
                    </a:p>
                  </a:txBody>
                  <a:tcPr marL="128016" marR="91440" marT="41148" marB="41148" anchor="ctr">
                    <a:solidFill>
                      <a:srgbClr val="2128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ECEAE5"/>
                          </a:solidFill>
                          <a:latin typeface="Segoe UI"/>
                        </a:rPr>
                        <a:t>Verdict</a:t>
                      </a:r>
                    </a:p>
                  </a:txBody>
                  <a:tcPr marL="128016" marR="91440" marT="41148" marB="41148" anchor="ctr">
                    <a:solidFill>
                      <a:srgbClr val="21283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CEAE5"/>
                          </a:solidFill>
                          <a:latin typeface="Segoe UI"/>
                        </a:rPr>
                        <a:t>Draugr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96A0AF"/>
                          </a:solidFill>
                          <a:latin typeface="Segoe UI"/>
                        </a:rPr>
                        <a:t>Overlord · Wight Lord · Scourge Lord · Death Overlord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6FB07F"/>
                          </a:solidFill>
                          <a:latin typeface="Segoe UI"/>
                        </a:rPr>
                        <a:t>spread is fine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CEAE5"/>
                          </a:solidFill>
                          <a:latin typeface="Segoe UI"/>
                        </a:rPr>
                        <a:t>Falmer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96A0AF"/>
                          </a:solidFill>
                          <a:latin typeface="Segoe UI"/>
                        </a:rPr>
                        <a:t>Skulker · Gloomlurker · Nightprowler · Shadowmaster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6FB07F"/>
                          </a:solidFill>
                          <a:latin typeface="Segoe UI"/>
                        </a:rPr>
                        <a:t>spread is fine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CEAE5"/>
                          </a:solidFill>
                          <a:latin typeface="Segoe UI"/>
                        </a:rPr>
                        <a:t>Bandit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96A0AF"/>
                          </a:solidFill>
                          <a:latin typeface="Segoe UI"/>
                        </a:rPr>
                        <a:t>one name for every rung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D4A63C"/>
                          </a:solidFill>
                          <a:latin typeface="Segoe UI"/>
                        </a:rPr>
                        <a:t>pinned to 28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CEAE5"/>
                          </a:solidFill>
                          <a:latin typeface="Segoe UI"/>
                        </a:rPr>
                        <a:t>Forsworn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96A0AF"/>
                          </a:solidFill>
                          <a:latin typeface="Segoe UI"/>
                        </a:rPr>
                        <a:t>one name for every rung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CC5B44"/>
                          </a:solidFill>
                          <a:latin typeface="Segoe UI"/>
                        </a:rPr>
                        <a:t>open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CEAE5"/>
                          </a:solidFill>
                          <a:latin typeface="Segoe UI"/>
                        </a:rPr>
                        <a:t>Warlock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96A0AF"/>
                          </a:solidFill>
                          <a:latin typeface="Segoe UI"/>
                        </a:rPr>
                        <a:t>one name for every rung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CC5B44"/>
                          </a:solidFill>
                          <a:latin typeface="Segoe UI"/>
                        </a:rPr>
                        <a:t>open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CEAE5"/>
                          </a:solidFill>
                          <a:latin typeface="Segoe UI"/>
                        </a:rPr>
                        <a:t>Thalmor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96A0AF"/>
                          </a:solidFill>
                          <a:latin typeface="Segoe UI"/>
                        </a:rPr>
                        <a:t>"Thalmor Wizard" at all seven rungs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CC5B44"/>
                          </a:solidFill>
                          <a:latin typeface="Segoe UI"/>
                        </a:rPr>
                        <a:t>open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ECEAE5"/>
                          </a:solidFill>
                          <a:latin typeface="Segoe UI"/>
                        </a:rPr>
                        <a:t>Vampire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96A0AF"/>
                          </a:solidFill>
                          <a:latin typeface="Segoe UI"/>
                        </a:rPr>
                        <a:t>one name for every rung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CC5B44"/>
                          </a:solidFill>
                          <a:latin typeface="Segoe UI"/>
                        </a:rPr>
                        <a:t>open</a:t>
                      </a:r>
                    </a:p>
                  </a:txBody>
                  <a:tcPr marL="128016" marR="91440" marT="41148" marB="41148" anchor="ctr">
                    <a:solidFill>
                      <a:srgbClr val="181D27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731520" y="5943600"/>
            <a:ext cx="10728655" cy="457200"/>
          </a:xfrm>
          <a:prstGeom prst="rect">
            <a:avLst/>
          </a:prstGeom>
          <a:solidFill>
            <a:srgbClr val="212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5943600"/>
            <a:ext cx="38404" cy="457200"/>
          </a:xfrm>
          <a:prstGeom prst="rect">
            <a:avLst/>
          </a:prstGeom>
          <a:solidFill>
            <a:srgbClr val="63B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961888"/>
            <a:ext cx="1018001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50" b="0">
                <a:solidFill>
                  <a:srgbClr val="ECEAE5"/>
                </a:solidFill>
                <a:latin typeface="Segoe UI"/>
              </a:rPr>
              <a:t>The rule that came out of it: a band of levels is only allowed where the rungs have different names.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D4A63C"/>
                </a:solidFill>
                <a:latin typeface="Segoe UI"/>
              </a:rPr>
              <a:t>LEGIBILITY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72865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CEAE5"/>
                </a:solidFill>
                <a:latin typeface="Segoe UI"/>
              </a:rPr>
              <a:t>Wildlife: the map draws itself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16736"/>
            <a:ext cx="1051560" cy="41148"/>
          </a:xfrm>
          <a:prstGeom prst="rect">
            <a:avLst/>
          </a:prstGeom>
          <a:solidFill>
            <a:srgbClr val="D4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5775" y="638251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>
                <a:solidFill>
                  <a:srgbClr val="545D6B"/>
                </a:solidFill>
                <a:latin typeface="Segoe U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27632"/>
            <a:ext cx="107286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96A0AF"/>
                </a:solidFill>
                <a:latin typeface="Segoe UI"/>
              </a:rPr>
              <a:t>Vanilla already partitions animal spawns by biome. Freeze each biome at its own tier and a gradient appears for free.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94560"/>
            <a:ext cx="2476423" cy="196596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194560"/>
            <a:ext cx="2476423" cy="45720"/>
          </a:xfrm>
          <a:prstGeom prst="rect">
            <a:avLst/>
          </a:prstGeom>
          <a:solidFill>
            <a:srgbClr val="6FA9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395728"/>
            <a:ext cx="218381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ECEAE5"/>
                </a:solidFill>
                <a:latin typeface="Segoe UI"/>
              </a:rPr>
              <a:t>Plains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247642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6FA98E"/>
                </a:solidFill>
                <a:latin typeface="Segoe UI"/>
              </a:rPr>
              <a:t>T2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3401568"/>
            <a:ext cx="2220391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96A0AF"/>
                </a:solidFill>
                <a:latin typeface="Segoe UI"/>
              </a:rPr>
              <a:t>Wolf ×4  SabreCat ×1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6231" y="2999232"/>
            <a:ext cx="256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E3745"/>
                </a:solidFill>
                <a:latin typeface="Segoe U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82263" y="2194560"/>
            <a:ext cx="2476423" cy="196596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82263" y="2194560"/>
            <a:ext cx="2476423" cy="45720"/>
          </a:xfrm>
          <a:prstGeom prst="rect">
            <a:avLst/>
          </a:prstGeom>
          <a:solidFill>
            <a:srgbClr val="A8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8567" y="2395728"/>
            <a:ext cx="218381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ECEAE5"/>
                </a:solidFill>
                <a:latin typeface="Segoe UI"/>
              </a:rPr>
              <a:t>Forest · Canyon
Marsh · Hills · Coast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2263" y="3017520"/>
            <a:ext cx="247642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A8A85B"/>
                </a:solidFill>
                <a:latin typeface="Segoe UI"/>
              </a:rPr>
              <a:t>T3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0279" y="3401568"/>
            <a:ext cx="2220391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96A0AF"/>
                </a:solidFill>
                <a:latin typeface="Segoe UI"/>
              </a:rPr>
              <a:t>Bear ×5  Spider ×4
Wolf ×4  Troll ×1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76975" y="2999232"/>
            <a:ext cx="256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E3745"/>
                </a:solidFill>
                <a:latin typeface="Segoe U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3007" y="2194560"/>
            <a:ext cx="2476423" cy="196596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3007" y="2194560"/>
            <a:ext cx="2476423" cy="45720"/>
          </a:xfrm>
          <a:prstGeom prst="rect">
            <a:avLst/>
          </a:prstGeom>
          <a:solidFill>
            <a:srgbClr val="D4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9311" y="2395728"/>
            <a:ext cx="218381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ECEAE5"/>
                </a:solidFill>
                <a:latin typeface="Segoe UI"/>
              </a:rPr>
              <a:t>Snowfields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3007" y="3017520"/>
            <a:ext cx="247642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D4A63C"/>
                </a:solidFill>
                <a:latin typeface="Segoe UI"/>
              </a:rPr>
              <a:t>T4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1023" y="3401568"/>
            <a:ext cx="2220391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96A0AF"/>
                </a:solidFill>
                <a:latin typeface="Segoe UI"/>
              </a:rPr>
              <a:t>WolfIce ×3  SabreCatSnow ×2
BearSnow ×1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27719" y="2999232"/>
            <a:ext cx="256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E3745"/>
                </a:solidFill>
                <a:latin typeface="Segoe U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83751" y="2194560"/>
            <a:ext cx="2476423" cy="196596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83751" y="2194560"/>
            <a:ext cx="2476423" cy="45720"/>
          </a:xfrm>
          <a:prstGeom prst="rect">
            <a:avLst/>
          </a:prstGeom>
          <a:solidFill>
            <a:srgbClr val="D48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30055" y="2395728"/>
            <a:ext cx="218381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ECEAE5"/>
                </a:solidFill>
                <a:latin typeface="Segoe UI"/>
              </a:rPr>
              <a:t>Mountains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83751" y="3017520"/>
            <a:ext cx="247642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D4823C"/>
                </a:solidFill>
                <a:latin typeface="Segoe UI"/>
              </a:rPr>
              <a:t>T5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1767" y="3401568"/>
            <a:ext cx="2220391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96A0AF"/>
                </a:solidFill>
                <a:latin typeface="Segoe UI"/>
              </a:rPr>
              <a:t>IceWraith ×4  WolfIce ×4
Frost Troll ×3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443984"/>
            <a:ext cx="10728655" cy="566928"/>
          </a:xfrm>
          <a:prstGeom prst="rect">
            <a:avLst/>
          </a:prstGeom>
          <a:solidFill>
            <a:srgbClr val="212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4443984"/>
            <a:ext cx="38404" cy="566928"/>
          </a:xfrm>
          <a:prstGeom prst="rect">
            <a:avLst/>
          </a:prstGeom>
          <a:solidFill>
            <a:srgbClr val="63B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4462272"/>
            <a:ext cx="10180015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50" b="0">
                <a:solidFill>
                  <a:srgbClr val="ECEAE5"/>
                </a:solidFill>
                <a:latin typeface="Segoe UI"/>
              </a:rPr>
              <a:t>Only the T5 mountain roster contains the Frost Troll. The mountain is the warning — and it is visible from anywhere in Skyrim.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230368"/>
            <a:ext cx="107286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350" b="0">
                <a:solidFill>
                  <a:srgbClr val="96A0AF"/>
                </a:solidFill>
                <a:latin typeface="Segoe UI"/>
              </a:rPr>
              <a:t>This matters because the mod switches off vanilla's twelve hidden "do not spawn this yet" flags. Geography has to carry the warning instead, and here it does.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D4A63C"/>
                </a:solidFill>
                <a:latin typeface="Segoe UI"/>
              </a:rPr>
              <a:t>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72865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CEAE5"/>
                </a:solidFill>
                <a:latin typeface="Segoe UI"/>
              </a:rPr>
              <a:t>What it costs — honestly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16736"/>
            <a:ext cx="1051560" cy="41148"/>
          </a:xfrm>
          <a:prstGeom prst="rect">
            <a:avLst/>
          </a:prstGeom>
          <a:solidFill>
            <a:srgbClr val="D4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5775" y="638251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>
                <a:solidFill>
                  <a:srgbClr val="545D6B"/>
                </a:solidFill>
                <a:latin typeface="Segoe UI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773936"/>
            <a:ext cx="5199735" cy="137160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73936"/>
            <a:ext cx="38404" cy="1371600"/>
          </a:xfrm>
          <a:prstGeom prst="rect">
            <a:avLst/>
          </a:prstGeom>
          <a:solidFill>
            <a:srgbClr val="D4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002536"/>
            <a:ext cx="468767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ECEAE5"/>
                </a:solidFill>
                <a:latin typeface="Segoe UI"/>
              </a:rPr>
              <a:t>Bandit camps go bimodal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359151"/>
            <a:ext cx="468767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 b="0">
                <a:solidFill>
                  <a:srgbClr val="96A0AF"/>
                </a:solidFill>
                <a:latin typeface="Segoe UI"/>
              </a:rPr>
              <a:t>Trivial mooks at T2, then a level-28 chief. That is a spike, and it is a deliberate one — a camp has nothing else in it to carry difficulty.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0439" y="1773936"/>
            <a:ext cx="5199735" cy="137160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0439" y="1773936"/>
            <a:ext cx="38404" cy="1371600"/>
          </a:xfrm>
          <a:prstGeom prst="rect">
            <a:avLst/>
          </a:prstGeom>
          <a:solidFill>
            <a:srgbClr val="CC5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6471" y="2002536"/>
            <a:ext cx="468767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ECEAE5"/>
                </a:solidFill>
                <a:latin typeface="Segoe UI"/>
              </a:rPr>
              <a:t>Some content is simply shut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6471" y="2359151"/>
            <a:ext cx="468767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 b="0">
                <a:solidFill>
                  <a:srgbClr val="96A0AF"/>
                </a:solidFill>
                <a:latin typeface="Segoe UI"/>
              </a:rPr>
              <a:t>A level-5 character cannot clear a deep barrow. That is the point, but it puts all the weight on signposting getting it right.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291840"/>
            <a:ext cx="5199735" cy="137160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291840"/>
            <a:ext cx="38404" cy="1371600"/>
          </a:xfrm>
          <a:prstGeom prst="rect">
            <a:avLst/>
          </a:prstGeom>
          <a:solidFill>
            <a:srgbClr val="63B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520440"/>
            <a:ext cx="468767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ECEAE5"/>
                </a:solidFill>
                <a:latin typeface="Segoe UI"/>
              </a:rPr>
              <a:t>Followers have to be hand-set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3877056"/>
            <a:ext cx="468767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 b="0">
                <a:solidFill>
                  <a:srgbClr val="96A0AF"/>
                </a:solidFill>
                <a:latin typeface="Segoe UI"/>
              </a:rPr>
              <a:t>They do not scale either, so each one needs a level chosen from role and lore. Picking a companion becomes a real decision.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0439" y="3291840"/>
            <a:ext cx="5199735" cy="137160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0439" y="3291840"/>
            <a:ext cx="38404" cy="1371600"/>
          </a:xfrm>
          <a:prstGeom prst="rect">
            <a:avLst/>
          </a:prstGeom>
          <a:solidFill>
            <a:srgbClr val="6FB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6471" y="3520440"/>
            <a:ext cx="468767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ECEAE5"/>
                </a:solidFill>
                <a:latin typeface="Segoe UI"/>
              </a:rPr>
              <a:t>Level is not the same as threat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6471" y="3877056"/>
            <a:ext cx="468767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 b="0">
                <a:solidFill>
                  <a:srgbClr val="96A0AF"/>
                </a:solidFill>
                <a:latin typeface="Segoe UI"/>
              </a:rPr>
              <a:t>A fixed world can be a dull one. Perks, spells and combat style do as much work as the number — and they are next.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901184"/>
            <a:ext cx="10728655" cy="566928"/>
          </a:xfrm>
          <a:prstGeom prst="rect">
            <a:avLst/>
          </a:prstGeom>
          <a:solidFill>
            <a:srgbClr val="212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901184"/>
            <a:ext cx="38404" cy="566928"/>
          </a:xfrm>
          <a:prstGeom prst="rect">
            <a:avLst/>
          </a:prstGeom>
          <a:solidFill>
            <a:srgbClr val="D4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919472"/>
            <a:ext cx="10180015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50" b="0">
                <a:solidFill>
                  <a:srgbClr val="ECEAE5"/>
                </a:solidFill>
                <a:latin typeface="Segoe UI"/>
              </a:rPr>
              <a:t>None of these are bugs to be fixed later. They are the shape a world takes once it stops flattering the player, and the design says so out loud rather than discovering them in testing.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D4A63C"/>
                </a:solidFill>
                <a:latin typeface="Segoe UI"/>
              </a:rPr>
              <a:t>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72865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CEAE5"/>
                </a:solidFill>
                <a:latin typeface="Segoe UI"/>
              </a:rPr>
              <a:t>Where it stands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16736"/>
            <a:ext cx="1051560" cy="41148"/>
          </a:xfrm>
          <a:prstGeom prst="rect">
            <a:avLst/>
          </a:prstGeom>
          <a:solidFill>
            <a:srgbClr val="D4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5775" y="638251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>
                <a:solidFill>
                  <a:srgbClr val="545D6B"/>
                </a:solidFill>
                <a:latin typeface="Segoe UI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10512"/>
            <a:ext cx="2476423" cy="114300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10512"/>
            <a:ext cx="2476423" cy="41148"/>
          </a:xfrm>
          <a:prstGeom prst="rect">
            <a:avLst/>
          </a:prstGeom>
          <a:solidFill>
            <a:srgbClr val="D4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84831"/>
            <a:ext cx="24764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D4A63C"/>
                </a:solidFill>
                <a:latin typeface="Segoe UI"/>
              </a:rPr>
              <a:t>2,833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596896"/>
            <a:ext cx="22569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96A0AF"/>
                </a:solidFill>
                <a:latin typeface="Segoe UI"/>
              </a:rPr>
              <a:t>records, all overrides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82263" y="1810512"/>
            <a:ext cx="2476423" cy="114300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82263" y="1810512"/>
            <a:ext cx="2476423" cy="41148"/>
          </a:xfrm>
          <a:prstGeom prst="rect">
            <a:avLst/>
          </a:prstGeom>
          <a:solidFill>
            <a:srgbClr val="D4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2263" y="2084831"/>
            <a:ext cx="24764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D4A63C"/>
                </a:solidFill>
                <a:latin typeface="Segoe UI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1991" y="2596896"/>
            <a:ext cx="22569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96A0AF"/>
                </a:solidFill>
                <a:latin typeface="Segoe UI"/>
              </a:rPr>
              <a:t>new form IDs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3007" y="1810512"/>
            <a:ext cx="2476423" cy="114300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3007" y="1810512"/>
            <a:ext cx="2476423" cy="41148"/>
          </a:xfrm>
          <a:prstGeom prst="rect">
            <a:avLst/>
          </a:prstGeom>
          <a:solidFill>
            <a:srgbClr val="D4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3007" y="2084831"/>
            <a:ext cx="24764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D4A63C"/>
                </a:solidFill>
                <a:latin typeface="Segoe UI"/>
              </a:rPr>
              <a:t>16,308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2735" y="2596896"/>
            <a:ext cx="22569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96A0AF"/>
                </a:solidFill>
                <a:latin typeface="Segoe UI"/>
              </a:rPr>
              <a:t>list entries, every gate flat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83751" y="1810512"/>
            <a:ext cx="2476423" cy="114300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83751" y="1810512"/>
            <a:ext cx="2476423" cy="41148"/>
          </a:xfrm>
          <a:prstGeom prst="rect">
            <a:avLst/>
          </a:prstGeom>
          <a:solidFill>
            <a:srgbClr val="D4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83751" y="2084831"/>
            <a:ext cx="24764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D4A63C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3479" y="2596896"/>
            <a:ext cx="22569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96A0AF"/>
                </a:solidFill>
                <a:latin typeface="Segoe UI"/>
              </a:rPr>
              <a:t>master files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255264"/>
            <a:ext cx="5199735" cy="1481328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255264"/>
            <a:ext cx="38404" cy="1481328"/>
          </a:xfrm>
          <a:prstGeom prst="rect">
            <a:avLst/>
          </a:prstGeom>
          <a:solidFill>
            <a:srgbClr val="6FB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3483864"/>
            <a:ext cx="468767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ECEAE5"/>
                </a:solidFill>
                <a:latin typeface="Segoe UI"/>
              </a:rPr>
              <a:t>Working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3840480"/>
            <a:ext cx="4687671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 b="0">
                <a:solidFill>
                  <a:srgbClr val="96A0AF"/>
                </a:solidFill>
                <a:latin typeface="Segoe UI"/>
              </a:rPr>
              <a:t>Builds and round-trips cleanly. In play at character level 1 and level 45, Bleak Falls Barrow and Swindler's Den give the same spread of enemies both times — the first real evidence rule 1 holds.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0439" y="3255264"/>
            <a:ext cx="5199735" cy="1481328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0439" y="3255264"/>
            <a:ext cx="38404" cy="1481328"/>
          </a:xfrm>
          <a:prstGeom prst="rect">
            <a:avLst/>
          </a:prstGeom>
          <a:solidFill>
            <a:srgbClr val="CC5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6471" y="3483864"/>
            <a:ext cx="468767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ECEAE5"/>
                </a:solidFill>
                <a:latin typeface="Segoe UI"/>
              </a:rPr>
              <a:t>Still open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6471" y="3840480"/>
            <a:ext cx="4687671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 b="0">
                <a:solidFill>
                  <a:srgbClr val="96A0AF"/>
                </a:solidFill>
                <a:latin typeface="Segoe UI"/>
              </a:rPr>
              <a:t>Four boss families still fail the naming test. Followers are unset. Boss-chest loot has not been verified across two player levels yet.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956048"/>
            <a:ext cx="10728655" cy="566928"/>
          </a:xfrm>
          <a:prstGeom prst="rect">
            <a:avLst/>
          </a:prstGeom>
          <a:solidFill>
            <a:srgbClr val="212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4956048"/>
            <a:ext cx="38404" cy="566928"/>
          </a:xfrm>
          <a:prstGeom prst="rect">
            <a:avLst/>
          </a:prstGeom>
          <a:solidFill>
            <a:srgbClr val="D4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4974336"/>
            <a:ext cx="10180015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50" b="0">
                <a:solidFill>
                  <a:srgbClr val="ECEAE5"/>
                </a:solidFill>
                <a:latin typeface="Segoe UI"/>
              </a:rPr>
              <a:t>Everything shipped is an override of a record Bethesda wrote. No new records, so it stays as compatible as a mod of this reach can be.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D4A63C"/>
                </a:solidFill>
                <a:latin typeface="Segoe UI"/>
              </a:rPr>
              <a:t>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72865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CEAE5"/>
                </a:solidFill>
                <a:latin typeface="Segoe UI"/>
              </a:rPr>
              <a:t>Three things to take away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16736"/>
            <a:ext cx="1051560" cy="41148"/>
          </a:xfrm>
          <a:prstGeom prst="rect">
            <a:avLst/>
          </a:prstGeom>
          <a:solidFill>
            <a:srgbClr val="D4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5775" y="638251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>
                <a:solidFill>
                  <a:srgbClr val="545D6B"/>
                </a:solidFill>
                <a:latin typeface="Segoe UI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10512"/>
            <a:ext cx="10728655" cy="1042415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10512"/>
            <a:ext cx="38404" cy="1042415"/>
          </a:xfrm>
          <a:prstGeom prst="rect">
            <a:avLst/>
          </a:prstGeom>
          <a:solidFill>
            <a:srgbClr val="D4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084831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D4A63C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1993392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CEAE5"/>
                </a:solidFill>
                <a:latin typeface="Segoe UI"/>
              </a:rPr>
              <a:t>The gate is the scaling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59" y="1993392"/>
            <a:ext cx="51508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 b="0">
                <a:solidFill>
                  <a:srgbClr val="96A0AF"/>
                </a:solidFill>
                <a:latin typeface="Segoe UI"/>
              </a:rPr>
              <a:t>One number on each row of a leveled list is what ties the whole world to your character sheet. Flatten it and the coupling is gone.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017520"/>
            <a:ext cx="10728655" cy="1042415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017520"/>
            <a:ext cx="38404" cy="1042415"/>
          </a:xfrm>
          <a:prstGeom prst="rect">
            <a:avLst/>
          </a:prstGeom>
          <a:solidFill>
            <a:srgbClr val="63B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291839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63B3D4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20040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CEAE5"/>
                </a:solidFill>
                <a:latin typeface="Segoe UI"/>
              </a:rPr>
              <a:t>Then the curation is the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59" y="3200400"/>
            <a:ext cx="51508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 b="0">
                <a:solidFill>
                  <a:srgbClr val="96A0AF"/>
                </a:solidFill>
                <a:latin typeface="Segoe UI"/>
              </a:rPr>
              <a:t>Once nothing is hidden, which rows remain on the menu is the only lever left — and that is a design job, not a technical one.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224528"/>
            <a:ext cx="10728655" cy="1042415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224528"/>
            <a:ext cx="38404" cy="1042415"/>
          </a:xfrm>
          <a:prstGeom prst="rect">
            <a:avLst/>
          </a:prstGeom>
          <a:solidFill>
            <a:srgbClr val="6FB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4498848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6FB07F"/>
                </a:solidFill>
                <a:latin typeface="Segoe U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440740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CEAE5"/>
                </a:solidFill>
                <a:latin typeface="Segoe UI"/>
              </a:rPr>
              <a:t>Names carry the difficulty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59" y="4407408"/>
            <a:ext cx="51508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 b="0">
                <a:solidFill>
                  <a:srgbClr val="96A0AF"/>
                </a:solidFill>
                <a:latin typeface="Segoe UI"/>
              </a:rPr>
              <a:t>A fixed world is only fair if it can be read, and Bethesda already wrote the labels. Where the labels run out, the spread has to stop.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577840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D4A63C"/>
                </a:solidFill>
                <a:latin typeface="Segoe UI"/>
              </a:rPr>
              <a:t>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Ehlnofey - Deleveling Skyrim</dc:title>
  <dc:subject>Tier ladders</dc:subject>
  <dc:creator>Ehlnofey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